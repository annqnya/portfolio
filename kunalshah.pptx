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E334"/>
    <a:srgbClr val="0F17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F9E0C-2BD9-3141-8BD0-BEBAD3159BCD}" v="38" dt="2025-11-08T10:53:39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74"/>
    <p:restoredTop sz="94645"/>
  </p:normalViewPr>
  <p:slideViewPr>
    <p:cSldViewPr snapToGrid="0">
      <p:cViewPr>
        <p:scale>
          <a:sx n="80" d="100"/>
          <a:sy n="80" d="100"/>
        </p:scale>
        <p:origin x="144" y="9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15DB69-D681-255A-7BF9-CB19C49E7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5000" contrast="-38000"/>
                    </a14:imgEffect>
                  </a14:imgLayer>
                </a14:imgProps>
              </a:ext>
            </a:extLst>
          </a:blip>
          <a:srcRect t="19763" b="4223"/>
          <a:stretch>
            <a:fillRect/>
          </a:stretch>
        </p:blipFill>
        <p:spPr>
          <a:xfrm>
            <a:off x="0" y="1"/>
            <a:ext cx="12191980" cy="6857999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84" name="Google Shape;84;p13"/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u="none" strike="noStrike" kern="1200" cap="none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Poppins"/>
              </a:rPr>
              <a:t>Brand the Persona</a:t>
            </a:r>
            <a:endParaRPr lang="en-US" sz="6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524000" y="4159404"/>
            <a:ext cx="9144000" cy="109839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400" b="0" i="0" u="none" strike="noStrike" kern="1200" cap="none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Lato"/>
              </a:rPr>
              <a:t>A Rhetorical Analysis of </a:t>
            </a:r>
            <a:r>
              <a:rPr lang="en-US" sz="2400" b="0" i="1" u="none" strike="noStrike" kern="1200" cap="none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Lato"/>
              </a:rPr>
              <a:t>Kunal Shah</a:t>
            </a:r>
            <a:endParaRPr lang="en-US" sz="2400" i="1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62212"/>
            <a:ext cx="528637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62212"/>
            <a:ext cx="5286375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62025" y="28527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Analysis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62025" y="3500437"/>
            <a:ext cx="4505325" cy="1558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Kunal Shah's "Unconventional Philosopher" persona is a masterclass in rhetoric. He uses *Logos* (unconventional logic) on professional platforms like LinkedIn and *Pathos* (niche community memes) on personal platforms like Instagram.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6724650" y="285273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Proposal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724650" y="3500437"/>
            <a:ext cx="4505325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"exclusive" brand, while effective, creates a gap. We propose a rebrand to *"The Societal Architect,"* shifting his core message from the aspirational "Status" to the foundational, inclusive value of "Trust."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Executive Summary: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Core Idea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66950"/>
            <a:ext cx="34290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266950"/>
            <a:ext cx="34290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266950"/>
            <a:ext cx="34290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1640919" y="3276600"/>
            <a:ext cx="129016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Analyze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404812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Deconstruct his current persona and the rhetorical tools (Ethos, Pathos, Logos) he uses to build it.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470921" y="3276600"/>
            <a:ext cx="12501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76775" y="404812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Pinpoint the "Exclusive Gap" created by his "not for everyone" messaging and its long-term limitations.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245917" y="3276600"/>
            <a:ext cx="132016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Propose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86775" y="40481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Outline a strategic pivot to the "Societal Architect" persona, shifting his message to be more inclusive and visionary.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7400" y="25812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4550" y="258127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5812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809625" y="21240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 deliberate, "hyper-rhetorical" persona built on his Philosophy background.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09625" y="27813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His personal brand and CRED's brand are one and the same.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09625" y="31813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Manages a multi-platform strategy (LinkedIn, Instagram, Podcasts) with different goals.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09625" y="383857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He is at the center of the critical "Aspirational vs. Mass-Market" debate in modern India.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2171700"/>
            <a:ext cx="133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2828925"/>
            <a:ext cx="133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228975"/>
            <a:ext cx="133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3886200"/>
            <a:ext cx="133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3E63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Rationale: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Why Kunal Shah?</a:t>
            </a:r>
            <a:endParaRPr/>
          </a:p>
        </p:txBody>
      </p:sp>
      <p:pic>
        <p:nvPicPr>
          <p:cNvPr id="6" name="Picture 5" descr="A person with glasses and a beard&#10;&#10;AI-generated content may be incorrect.">
            <a:extLst>
              <a:ext uri="{FF2B5EF4-FFF2-40B4-BE49-F238E27FC236}">
                <a16:creationId xmlns:a16="http://schemas.microsoft.com/office/drawing/2014/main" id="{EA7B560C-50DF-DCA8-8E90-95436F743B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8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36370" y="1626026"/>
            <a:ext cx="4884130" cy="3663098"/>
          </a:xfrm>
          <a:prstGeom prst="roundRect">
            <a:avLst>
              <a:gd name="adj" fmla="val 3819"/>
            </a:avLst>
          </a:prstGeom>
          <a:solidFill>
            <a:srgbClr val="002060">
              <a:alpha val="90000"/>
            </a:srgbClr>
          </a:solidFill>
          <a:effectLst>
            <a:softEdge rad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3155632" y="2438400"/>
            <a:ext cx="588073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 1: The Analysis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619750" y="3771900"/>
            <a:ext cx="952500" cy="476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162425" y="4105275"/>
            <a:ext cx="38671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Analyzing the Current Rhetorical Situation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2166937"/>
            <a:ext cx="34290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965835" y="3176587"/>
            <a:ext cx="264033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Ethos (Speaker)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86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"Proven Builder," The "Xennial Philosopher," and The "Rebellious Founder."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4605813" y="317658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Pathos (Audience)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676775" y="44053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Dual-pronged: "Insider" humor for his community and "Mass-Market" nostalgia (CRED ads) for all.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490823" y="3176587"/>
            <a:ext cx="283035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Logos (Message)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486775" y="394811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core logical framework: His challenging "Status &gt; Wealth" argument for the Indian market.</a:t>
            </a:r>
            <a:endParaRPr/>
          </a:p>
        </p:txBody>
      </p:sp>
      <p:pic>
        <p:nvPicPr>
          <p:cNvPr id="149" name="Google Shape;14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5975" y="248126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740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Rhetorical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Triangle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2190750" y="24955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Proven Builder:</a:t>
            </a: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Founded and sold Freecharge; built CRED into a unicorn. His track record is his primary authority.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2190750" y="32004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"Outsider" Philosopher:</a:t>
            </a: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His B.A. in Philosophy isn't a footnote; it's his brand. It positions him as a "systems thinker" who sees the world differently.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2190750" y="390525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"Xennial":</a:t>
            </a: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His "young at heart" persona allows him to authentically use memes and show "faith in the newer generations."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2190750" y="4610100"/>
            <a:ext cx="81915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Rebellious "Builder":</a:t>
            </a:r>
            <a:r>
              <a:rPr lang="en-US" sz="13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He creates a strong community with other founders by being aggressively pro-builder.</a:t>
            </a:r>
            <a:endParaRPr/>
          </a:p>
        </p:txBody>
      </p:sp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9750" y="25431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2480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9528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6577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Ethos: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How He Builds Credibility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571500" y="1751478"/>
            <a:ext cx="38660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"Builder" Ethos</a:t>
            </a:r>
            <a:endParaRPr sz="1600" dirty="0"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23241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"I DON'T TAKE CONSTRUCTIVE CRITICISM FROM PPL WHO HAVEN'T CONSTRUCTED SH\*T."</a:t>
            </a:r>
            <a:endParaRPr dirty="0"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32004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- via Instagram Stories</a:t>
            </a:r>
            <a:endParaRPr dirty="0"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3878355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builds a rebellious "builder" persona, creating a strong bond with other founders and entrepreneurs.</a:t>
            </a:r>
            <a:endParaRPr dirty="0"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Ethos: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In His Own Words</a:t>
            </a:r>
            <a:endParaRPr/>
          </a:p>
        </p:txBody>
      </p:sp>
      <p:pic>
        <p:nvPicPr>
          <p:cNvPr id="3" name="Picture 2" descr="A screen shot of a window&#10;&#10;AI-generated content may be incorrect.">
            <a:extLst>
              <a:ext uri="{FF2B5EF4-FFF2-40B4-BE49-F238E27FC236}">
                <a16:creationId xmlns:a16="http://schemas.microsoft.com/office/drawing/2014/main" id="{15564D59-197E-0743-ACD9-A2EE4C48E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096" y="461476"/>
            <a:ext cx="3429000" cy="5935047"/>
          </a:xfrm>
          <a:prstGeom prst="rect">
            <a:avLst/>
          </a:prstGeom>
          <a:solidFill>
            <a:srgbClr val="FFFFFF">
              <a:shade val="85000"/>
            </a:srgbClr>
          </a:solidFill>
          <a:ln w="47625" cap="sq">
            <a:solidFill>
              <a:srgbClr val="A1E334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46957"/>
            <a:ext cx="5286375" cy="4116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46957"/>
            <a:ext cx="5286375" cy="411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152525" y="2466082"/>
            <a:ext cx="431482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"Schadenfreude is easy to understand if we treat world as one big zero sum game."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962025" y="2466082"/>
            <a:ext cx="38100" cy="731341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962025" y="3426023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- via LinkedIn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962025" y="3873698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Non-Obvious Frameworks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962025" y="4521398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He presents challenging, logical frameworks for human motivation, solidifying his "philosopher" brand.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915150" y="2466082"/>
            <a:ext cx="431482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"Highly reliable people are rarely interesting. Very interesting people are rarely reliable."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6724650" y="2466082"/>
            <a:ext cx="38100" cy="1097012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6724650" y="3791694"/>
            <a:ext cx="45053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- via LinkedIn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724650" y="4239369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Challenging "Truths"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24650" y="4887069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Builds his brand as a thinker who presents unconventional ideas that make his audience stop and think.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Logos: </a:t>
            </a:r>
            <a:r>
              <a:rPr lang="en-US" sz="30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Unconventional "Kunal-isms"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24D7-DACB-CD53-7084-D28967D3D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965" y="290235"/>
            <a:ext cx="4751294" cy="928966"/>
          </a:xfrm>
        </p:spPr>
        <p:txBody>
          <a:bodyPr/>
          <a:lstStyle/>
          <a:p>
            <a:r>
              <a:rPr lang="en-US" dirty="0">
                <a:solidFill>
                  <a:srgbClr val="A1E334"/>
                </a:solidFill>
                <a:latin typeface="Poppins" pitchFamily="2" charset="77"/>
                <a:cs typeface="Poppins" pitchFamily="2" charset="77"/>
              </a:rPr>
              <a:t>More Examples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E7E3BD-5A32-E0E1-8E1B-3DABDA2B3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45" y="1324536"/>
            <a:ext cx="3761409" cy="2641600"/>
          </a:xfrm>
          <a:prstGeom prst="rect">
            <a:avLst/>
          </a:prstGeom>
          <a:solidFill>
            <a:srgbClr val="FFFFFF">
              <a:shade val="85000"/>
            </a:srgbClr>
          </a:solidFill>
          <a:ln w="44450" cap="sq">
            <a:solidFill>
              <a:srgbClr val="A1E334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D4DB268-6D45-8A1A-194D-ED93B22CE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084" y="4205941"/>
            <a:ext cx="4096869" cy="2254248"/>
          </a:xfrm>
          <a:prstGeom prst="rect">
            <a:avLst/>
          </a:prstGeom>
          <a:ln w="44450">
            <a:solidFill>
              <a:srgbClr val="A1E334"/>
            </a:solidFill>
          </a:ln>
        </p:spPr>
      </p:pic>
      <p:pic>
        <p:nvPicPr>
          <p:cNvPr id="17" name="Picture 1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689DB258-309D-4228-58C9-5289A2E75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166" y="1219201"/>
            <a:ext cx="4096869" cy="2710397"/>
          </a:xfrm>
          <a:prstGeom prst="rect">
            <a:avLst/>
          </a:prstGeom>
          <a:ln w="44450">
            <a:solidFill>
              <a:srgbClr val="A1E334"/>
            </a:solidFill>
          </a:ln>
        </p:spPr>
      </p:pic>
    </p:spTree>
    <p:extLst>
      <p:ext uri="{BB962C8B-B14F-4D97-AF65-F5344CB8AC3E}">
        <p14:creationId xmlns:p14="http://schemas.microsoft.com/office/powerpoint/2010/main" val="1083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/>
        </p:nvSpPr>
        <p:spPr>
          <a:xfrm>
            <a:off x="560740" y="1605055"/>
            <a:ext cx="3600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Philosophical Jokes</a:t>
            </a:r>
            <a:endParaRPr dirty="0"/>
          </a:p>
        </p:txBody>
      </p:sp>
      <p:sp>
        <p:nvSpPr>
          <p:cNvPr id="202" name="Google Shape;202;p22"/>
          <p:cNvSpPr txBox="1"/>
          <p:nvPr/>
        </p:nvSpPr>
        <p:spPr>
          <a:xfrm>
            <a:off x="560740" y="1876130"/>
            <a:ext cx="28374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Shares "smart humor" (like the Trolley Problem) that appeals to a niche, educated audience.</a:t>
            </a:r>
            <a:endParaRPr dirty="0"/>
          </a:p>
        </p:txBody>
      </p:sp>
      <p:sp>
        <p:nvSpPr>
          <p:cNvPr id="203" name="Google Shape;203;p22"/>
          <p:cNvSpPr txBox="1"/>
          <p:nvPr/>
        </p:nvSpPr>
        <p:spPr>
          <a:xfrm>
            <a:off x="571500" y="3030683"/>
            <a:ext cx="269613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Shared Curiosity</a:t>
            </a:r>
            <a:endParaRPr dirty="0"/>
          </a:p>
        </p:txBody>
      </p:sp>
      <p:sp>
        <p:nvSpPr>
          <p:cNvPr id="204" name="Google Shape;204;p22"/>
          <p:cNvSpPr txBox="1"/>
          <p:nvPr/>
        </p:nvSpPr>
        <p:spPr>
          <a:xfrm>
            <a:off x="560740" y="3335870"/>
            <a:ext cx="283742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Builds community not just with humor, but with shared intellectual curiosity about tech and economics.</a:t>
            </a:r>
            <a:endParaRPr dirty="0"/>
          </a:p>
        </p:txBody>
      </p:sp>
      <p:sp>
        <p:nvSpPr>
          <p:cNvPr id="205" name="Google Shape;205;p22"/>
          <p:cNvSpPr txBox="1"/>
          <p:nvPr/>
        </p:nvSpPr>
        <p:spPr>
          <a:xfrm>
            <a:off x="560740" y="4582366"/>
            <a:ext cx="3600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Data-Driven Insights</a:t>
            </a:r>
            <a:endParaRPr dirty="0"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4915741"/>
            <a:ext cx="28374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Reinforces his "researcher" persona by sharing interesting data, bonding with other "nerds."</a:t>
            </a:r>
            <a:endParaRPr dirty="0"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Pathos: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"Insider" Cues (Instagram)</a:t>
            </a:r>
            <a:endParaRPr/>
          </a:p>
        </p:txBody>
      </p:sp>
      <p:pic>
        <p:nvPicPr>
          <p:cNvPr id="4" name="Picture 3" descr="A person and person with a smile&#10;&#10;AI-generated content may be incorrect.">
            <a:extLst>
              <a:ext uri="{FF2B5EF4-FFF2-40B4-BE49-F238E27FC236}">
                <a16:creationId xmlns:a16="http://schemas.microsoft.com/office/drawing/2014/main" id="{BBBDC0F1-A342-4B34-EAD6-C95B7643D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4" b="21961"/>
          <a:stretch>
            <a:fillRect/>
          </a:stretch>
        </p:blipFill>
        <p:spPr>
          <a:xfrm>
            <a:off x="3551540" y="1771742"/>
            <a:ext cx="2415402" cy="3804678"/>
          </a:xfrm>
          <a:prstGeom prst="rect">
            <a:avLst/>
          </a:prstGeom>
          <a:ln w="31750">
            <a:solidFill>
              <a:srgbClr val="A1E334"/>
            </a:solidFill>
          </a:ln>
        </p:spPr>
      </p:pic>
      <p:pic>
        <p:nvPicPr>
          <p:cNvPr id="6" name="Picture 5" descr="A person in a suit pointing an object&#10;&#10;AI-generated content may be incorrect.">
            <a:extLst>
              <a:ext uri="{FF2B5EF4-FFF2-40B4-BE49-F238E27FC236}">
                <a16:creationId xmlns:a16="http://schemas.microsoft.com/office/drawing/2014/main" id="{444CA21D-616A-F594-829B-D480EDE457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76" b="21889"/>
          <a:stretch>
            <a:fillRect/>
          </a:stretch>
        </p:blipFill>
        <p:spPr>
          <a:xfrm>
            <a:off x="6258435" y="1771742"/>
            <a:ext cx="2418056" cy="3804678"/>
          </a:xfrm>
          <a:prstGeom prst="rect">
            <a:avLst/>
          </a:prstGeom>
          <a:ln w="38100">
            <a:solidFill>
              <a:srgbClr val="A1E334"/>
            </a:solidFill>
          </a:ln>
        </p:spPr>
      </p:pic>
      <p:pic>
        <p:nvPicPr>
          <p:cNvPr id="8" name="Picture 7" descr="A screenshot of a social media report&#10;&#10;AI-generated content may be incorrect.">
            <a:extLst>
              <a:ext uri="{FF2B5EF4-FFF2-40B4-BE49-F238E27FC236}">
                <a16:creationId xmlns:a16="http://schemas.microsoft.com/office/drawing/2014/main" id="{15DE33DC-824E-A872-84AC-CE38B88039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62" b="30000"/>
          <a:stretch>
            <a:fillRect/>
          </a:stretch>
        </p:blipFill>
        <p:spPr>
          <a:xfrm>
            <a:off x="8957742" y="1605055"/>
            <a:ext cx="2969799" cy="4068445"/>
          </a:xfrm>
          <a:prstGeom prst="rect">
            <a:avLst/>
          </a:prstGeom>
          <a:ln w="44450">
            <a:solidFill>
              <a:srgbClr val="A1E334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571500" y="571500"/>
            <a:ext cx="49283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Pathos: </a:t>
            </a:r>
            <a:r>
              <a:rPr lang="en-US" sz="30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Mass-Market Nostalgia</a:t>
            </a:r>
            <a:endParaRPr dirty="0"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165705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"CRED Ad" Strategy</a:t>
            </a:r>
            <a:endParaRPr dirty="0"/>
          </a:p>
        </p:txBody>
      </p:sp>
      <p:sp>
        <p:nvSpPr>
          <p:cNvPr id="218" name="Google Shape;218;p23"/>
          <p:cNvSpPr txBox="1"/>
          <p:nvPr/>
        </p:nvSpPr>
        <p:spPr>
          <a:xfrm>
            <a:off x="571500" y="2494195"/>
            <a:ext cx="401394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is the second part of his "two types of ads" strategy. He targets his "Xennial" and "Millennial" base by using 90s icons (like Rahul Dravid) in absurd, "meme-able" situations.</a:t>
            </a:r>
            <a:endParaRPr dirty="0"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4203752"/>
            <a:ext cx="4013948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creates a warm, nostalgic feeling and a mainstream "buzz" event, even if the ad's "logic" is confusing. The humor *is* the message.</a:t>
            </a:r>
            <a:endParaRPr dirty="0"/>
          </a:p>
        </p:txBody>
      </p:sp>
      <p:pic>
        <p:nvPicPr>
          <p:cNvPr id="2" name="Great for the good | ft. Rahul Dravid | CRED.mp4">
            <a:hlinkClick r:id="" action="ppaction://media"/>
            <a:extLst>
              <a:ext uri="{FF2B5EF4-FFF2-40B4-BE49-F238E27FC236}">
                <a16:creationId xmlns:a16="http://schemas.microsoft.com/office/drawing/2014/main" id="{0C070584-3AF0-41ED-1041-D2996E3357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02596" y="1185666"/>
            <a:ext cx="7159390" cy="4027157"/>
          </a:xfrm>
          <a:prstGeom prst="rect">
            <a:avLst/>
          </a:prstGeom>
          <a:ln w="44450">
            <a:solidFill>
              <a:srgbClr val="A1E334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1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/>
        </p:nvSpPr>
        <p:spPr>
          <a:xfrm>
            <a:off x="3060620" y="2438400"/>
            <a:ext cx="607075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Part 2: The Proposal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5619750" y="3771900"/>
            <a:ext cx="952500" cy="47625"/>
          </a:xfrm>
          <a:prstGeom prst="rect">
            <a:avLst/>
          </a:prstGeom>
          <a:solidFill>
            <a:srgbClr val="A3E6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4962525" y="4105275"/>
            <a:ext cx="2266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The Rebranding Strategy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/>
        </p:nvSpPr>
        <p:spPr>
          <a:xfrm>
            <a:off x="571500" y="2676525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1%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571500" y="4105275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"Exclusive" Brand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6334125" y="2676525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"Not Everyone Gets It" Problem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6334125" y="37623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His strategy is brilliant for building an exclusive, aspirational brand for the Top 1%. But it creates a gap.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6334125" y="44481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brand that is *proud* that "not everyone gets it" cannot easily become a trusted, foundational tool for the *entire nation*.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Communication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Gap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1123950" y="4224337"/>
            <a:ext cx="9944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He uses India's *most mass-market* medium (the IPL) to deliver his *most exclusive* message. This clash is intentional, but it reinforces the "exclusive" gap.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Misalignment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/>
        </p:nvSpPr>
        <p:spPr>
          <a:xfrm>
            <a:off x="6334125" y="2305050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From...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"The Unconventional Philosopher"</a:t>
            </a:r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6334125" y="339090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(Exclusive, Challenging, "Status")</a:t>
            </a:r>
            <a:endParaRPr/>
          </a:p>
        </p:txBody>
      </p:sp>
      <p:sp>
        <p:nvSpPr>
          <p:cNvPr id="251" name="Google Shape;251;p27"/>
          <p:cNvSpPr txBox="1"/>
          <p:nvPr/>
        </p:nvSpPr>
        <p:spPr>
          <a:xfrm>
            <a:off x="6334125" y="3990975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To...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"The Societal Architect"</a:t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6334125" y="50768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(Inclusive, Foundational, "Trust")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Rebranding: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The Goal</a:t>
            </a:r>
            <a:endParaRPr/>
          </a:p>
        </p:txBody>
      </p:sp>
      <p:pic>
        <p:nvPicPr>
          <p:cNvPr id="3" name="Graphic 2" descr="Badge Tick outline">
            <a:extLst>
              <a:ext uri="{FF2B5EF4-FFF2-40B4-BE49-F238E27FC236}">
                <a16:creationId xmlns:a16="http://schemas.microsoft.com/office/drawing/2014/main" id="{F8FF3638-7F3F-7413-7E7D-780FCF2635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2671" y="1613087"/>
            <a:ext cx="4069976" cy="4069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05075"/>
            <a:ext cx="5286375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05075"/>
            <a:ext cx="52863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8"/>
          <p:cNvSpPr txBox="1"/>
          <p:nvPr/>
        </p:nvSpPr>
        <p:spPr>
          <a:xfrm>
            <a:off x="962025" y="28956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FROM: "Status"</a:t>
            </a:r>
            <a:endParaRPr/>
          </a:p>
        </p:txBody>
      </p:sp>
      <p:sp>
        <p:nvSpPr>
          <p:cNvPr id="262" name="Google Shape;262;p28"/>
          <p:cNvSpPr txBox="1"/>
          <p:nvPr/>
        </p:nvSpPr>
        <p:spPr>
          <a:xfrm>
            <a:off x="962025" y="3543300"/>
            <a:ext cx="4505325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135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His current  *Logos*  in podcasts and on social media is about the "zero-sum game" of status. This sounds exclusive and positions him as a thinker for the "winners" only.</a:t>
            </a:r>
            <a:endParaRPr sz="1350" dirty="0">
              <a:solidFill>
                <a:schemeClr val="bg1">
                  <a:lumMod val="9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6724650" y="28956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TO: "Trust"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6724650" y="3543300"/>
            <a:ext cx="4505325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0" i="0" u="none" strike="noStrike" cap="none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</a:t>
            </a:r>
            <a:r>
              <a:rPr lang="en-IN" sz="135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 will shift his *personal narrative* to focus on "Trust" as the cornerstone of any strong economy. This reframes his mission as building a *foundational* system, which is inclusive and patriotic</a:t>
            </a:r>
            <a:r>
              <a:rPr lang="en-US" sz="1350" b="0" i="0" u="none" strike="noStrike" cap="none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.</a:t>
            </a:r>
            <a:endParaRPr sz="1350" dirty="0">
              <a:solidFill>
                <a:schemeClr val="bg1">
                  <a:lumMod val="9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6724650" y="4229100"/>
            <a:ext cx="450532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  <p:sp>
        <p:nvSpPr>
          <p:cNvPr id="267" name="Google Shape;267;p28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 1: </a:t>
            </a:r>
            <a:r>
              <a:rPr lang="en-US" sz="3000" b="1" i="0" u="none" strike="noStrike" cap="none" dirty="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Shift His Core Logic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66937"/>
            <a:ext cx="5334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66937"/>
            <a:ext cx="53340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/>
        </p:nvSpPr>
        <p:spPr>
          <a:xfrm>
            <a:off x="748188" y="3176587"/>
            <a:ext cx="498062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"Challenging" to "Connecting"</a:t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6463188" y="3176587"/>
            <a:ext cx="498062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"Exclusive" to "Ecosystem"</a:t>
            </a:r>
            <a:endParaRPr/>
          </a:p>
        </p:txBody>
      </p:sp>
      <p:sp>
        <p:nvSpPr>
          <p:cNvPr id="277" name="Google Shape;277;p29"/>
          <p:cNvSpPr txBox="1"/>
          <p:nvPr/>
        </p:nvSpPr>
        <p:spPr>
          <a:xfrm>
            <a:off x="6581774" y="4029431"/>
            <a:ext cx="474345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1350" dirty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his interviews, *he* will introduce a new narrative that links the "high-trust core" (the 1%) to a "cascade effect" of new opportunities for the 99%, framing *his personal work* as nation-building</a:t>
            </a:r>
            <a:endParaRPr sz="1350" dirty="0">
              <a:solidFill>
                <a:schemeClr val="bg1">
                  <a:lumMod val="9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78" name="Google Shape;27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2750" y="24812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0" y="24812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Objectives 2 &amp; 3: </a:t>
            </a:r>
            <a:r>
              <a:rPr lang="en-US" sz="3000" b="1" i="0" u="none" strike="noStrike" cap="none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Shift the Persona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448D08-260F-BF52-86F4-9EF114BB009E}"/>
              </a:ext>
            </a:extLst>
          </p:cNvPr>
          <p:cNvSpPr txBox="1"/>
          <p:nvPr/>
        </p:nvSpPr>
        <p:spPr>
          <a:xfrm>
            <a:off x="1012618" y="4090987"/>
            <a:ext cx="44381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u="none" strike="noStrike" dirty="0">
                <a:solidFill>
                  <a:srgbClr val="DCDCDC"/>
                </a:solidFill>
                <a:effectLst/>
                <a:latin typeface="Lato" panose="020F0502020204030203" pitchFamily="34" charset="0"/>
              </a:rPr>
              <a:t>His LinkedIn "Kunal-isms" will evolve. Instead of just posting challenging "truths," he will focus on "connecting the dots" for his audience—showing *how* philosophy, tech, and economics create value for society.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dirty="0"/>
          </a:p>
        </p:txBody>
      </p:sp>
      <p:sp>
        <p:nvSpPr>
          <p:cNvPr id="286" name="Google Shape;286;p30"/>
          <p:cNvSpPr txBox="1"/>
          <p:nvPr/>
        </p:nvSpPr>
        <p:spPr>
          <a:xfrm>
            <a:off x="571500" y="3843337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</a:rPr>
              <a:t>"The quality of your questions determines the quality of your life"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2" name="Google Shape;286;p30">
            <a:extLst>
              <a:ext uri="{FF2B5EF4-FFF2-40B4-BE49-F238E27FC236}">
                <a16:creationId xmlns:a16="http://schemas.microsoft.com/office/drawing/2014/main" id="{93B3B601-6501-40F6-9BC9-61FC0E12A7DD}"/>
              </a:ext>
            </a:extLst>
          </p:cNvPr>
          <p:cNvSpPr txBox="1"/>
          <p:nvPr/>
        </p:nvSpPr>
        <p:spPr>
          <a:xfrm>
            <a:off x="571500" y="4212669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1600" dirty="0">
                <a:solidFill>
                  <a:schemeClr val="bg1"/>
                </a:solidFill>
              </a:rPr>
              <a:t>-</a:t>
            </a:r>
            <a:r>
              <a:rPr lang="en-IN" sz="1600" b="1" i="1" dirty="0">
                <a:solidFill>
                  <a:schemeClr val="bg1"/>
                </a:solidFill>
              </a:rPr>
              <a:t>Kunal Shah</a:t>
            </a:r>
            <a:endParaRPr sz="1600" b="1" i="1" dirty="0">
              <a:solidFill>
                <a:schemeClr val="bg1"/>
              </a:solidFill>
            </a:endParaRPr>
          </a:p>
        </p:txBody>
      </p:sp>
      <p:sp>
        <p:nvSpPr>
          <p:cNvPr id="4" name="Google Shape;286;p30">
            <a:extLst>
              <a:ext uri="{FF2B5EF4-FFF2-40B4-BE49-F238E27FC236}">
                <a16:creationId xmlns:a16="http://schemas.microsoft.com/office/drawing/2014/main" id="{ED5FCDF3-AC38-ABB4-CD64-4A9EB684A67E}"/>
              </a:ext>
            </a:extLst>
          </p:cNvPr>
          <p:cNvSpPr txBox="1"/>
          <p:nvPr/>
        </p:nvSpPr>
        <p:spPr>
          <a:xfrm>
            <a:off x="571500" y="4582001"/>
            <a:ext cx="11049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12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Source: 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Knowledge Project podcast</a:t>
            </a:r>
            <a:r>
              <a:rPr lang="en-IN" sz="12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sz="12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B6826-7C48-8464-D232-BAB3FC60A15E}"/>
              </a:ext>
            </a:extLst>
          </p:cNvPr>
          <p:cNvSpPr txBox="1"/>
          <p:nvPr/>
        </p:nvSpPr>
        <p:spPr>
          <a:xfrm>
            <a:off x="3047011" y="3273181"/>
            <a:ext cx="6097978" cy="385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b="1" i="1" dirty="0">
                <a:solidFill>
                  <a:schemeClr val="bg1">
                    <a:lumMod val="95000"/>
                  </a:schemeClr>
                </a:solidFill>
                <a:latin typeface="Poppins" pitchFamily="2" charset="77"/>
                <a:cs typeface="Poppins" pitchFamily="2" charset="77"/>
              </a:rPr>
              <a:t>Questions</a:t>
            </a:r>
            <a:r>
              <a:rPr lang="en-IN" b="1" i="1" dirty="0">
                <a:solidFill>
                  <a:schemeClr val="bg1">
                    <a:lumMod val="95000"/>
                  </a:schemeClr>
                </a:solidFill>
              </a:rPr>
              <a:t>?</a:t>
            </a:r>
            <a:endParaRPr lang="en-IN" sz="1400" b="1" i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1105</Words>
  <Application>Microsoft Office PowerPoint</Application>
  <PresentationFormat>Widescreen</PresentationFormat>
  <Paragraphs>93</Paragraphs>
  <Slides>19</Slides>
  <Notes>18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More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ABHINAVA MAJUMDER - 251620130462 - TAPMIBLR</cp:lastModifiedBy>
  <cp:revision>2</cp:revision>
  <dcterms:modified xsi:type="dcterms:W3CDTF">2026-05-19T12:59:08Z</dcterms:modified>
</cp:coreProperties>
</file>